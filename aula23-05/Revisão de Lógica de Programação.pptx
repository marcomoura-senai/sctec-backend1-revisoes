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Roboto"/>
      <p:regular r:id="rId22"/>
      <p:bold r:id="rId23"/>
      <p:italic r:id="rId24"/>
      <p:boldItalic r:id="rId25"/>
    </p:embeddedFont>
    <p:embeddedFont>
      <p:font typeface="Urbanist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C551C1E-C242-4EE4-8E69-B2E50A102E66}">
  <a:tblStyle styleId="{4C551C1E-C242-4EE4-8E69-B2E50A102E6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Roboto-regular.fntdata"/><Relationship Id="rId21" Type="http://schemas.openxmlformats.org/officeDocument/2006/relationships/slide" Target="slides/slide15.xml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Urbanist-italic.fntdata"/><Relationship Id="rId27" Type="http://schemas.openxmlformats.org/officeDocument/2006/relationships/font" Target="fonts/Urbanist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9" Type="http://schemas.openxmlformats.org/officeDocument/2006/relationships/image" Target="../media/image7.png"/><Relationship Id="rId5" Type="http://schemas.openxmlformats.org/officeDocument/2006/relationships/image" Target="../media/image14.png"/><Relationship Id="rId6" Type="http://schemas.openxmlformats.org/officeDocument/2006/relationships/image" Target="../media/image10.png"/><Relationship Id="rId7" Type="http://schemas.openxmlformats.org/officeDocument/2006/relationships/image" Target="../media/image2.png"/><Relationship Id="rId8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571500" y="1885950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MÓDULO 1 • SEMANA 06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2552700"/>
            <a:ext cx="11601450" cy="15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LÓGICA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1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PROGRAMAÇÃO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495800"/>
            <a:ext cx="110490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Revisão: Álgebra Booleana e Variáveis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857250"/>
            <a:ext cx="1143000" cy="57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3125628" y="1200150"/>
            <a:ext cx="594074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TUDO É LÓGICA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9" name="Google Shape;9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895475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249078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Estudada por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Aristóteles</a:t>
            </a: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no século IV a.C., a lógica surgiu como um sistema de regras verificáveis.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3624262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Silogismo Aristotélico:</a:t>
            </a:r>
            <a:endParaRPr/>
          </a:p>
        </p:txBody>
      </p:sp>
      <p:pic>
        <p:nvPicPr>
          <p:cNvPr descr="image.png" id="103" name="Google Shape;103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05000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71500" y="4100512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• Todo homem é mortal.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71500" y="4481512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• Sócrates é homem.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4862512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• Logo, Sócrates é mortal.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AS RAÍZES DA LÓGICA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6"/>
          <p:cNvSpPr/>
          <p:nvPr/>
        </p:nvSpPr>
        <p:spPr>
          <a:xfrm>
            <a:off x="5524500" y="857250"/>
            <a:ext cx="1143000" cy="57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3155632" y="1200150"/>
            <a:ext cx="588073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GEORGE BOOLE</a:t>
            </a:r>
            <a:endParaRPr/>
          </a:p>
        </p:txBody>
      </p:sp>
      <p:sp>
        <p:nvSpPr>
          <p:cNvPr id="116" name="Google Shape;116;p16"/>
          <p:cNvSpPr txBox="1"/>
          <p:nvPr/>
        </p:nvSpPr>
        <p:spPr>
          <a:xfrm>
            <a:off x="3295650" y="2305050"/>
            <a:ext cx="56007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TRANSFORMANDO PENSAMENTO EM ÁLGEBRA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95500"/>
            <a:ext cx="3492549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095500"/>
            <a:ext cx="3492549" cy="340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095500"/>
            <a:ext cx="3492549" cy="3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952500" y="3295650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PROPOSIÇÃO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952500" y="3790950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Uma afirmação que pode ser verificada, sendo sempre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Verdadeira</a:t>
            </a: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ou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Falsa</a:t>
            </a: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4730799" y="3295650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COMPUTAÇÃO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4730799" y="3790950"/>
            <a:ext cx="2730549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Na computação, os valores Verdadeiro/Falso transformam-se no sistema binário: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1 ou 0</a:t>
            </a: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8509099" y="3295650"/>
            <a:ext cx="286707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CÁLCULO</a:t>
            </a:r>
            <a:endParaRPr/>
          </a:p>
        </p:txBody>
      </p:sp>
      <p:sp>
        <p:nvSpPr>
          <p:cNvPr id="130" name="Google Shape;130;p17"/>
          <p:cNvSpPr txBox="1"/>
          <p:nvPr/>
        </p:nvSpPr>
        <p:spPr>
          <a:xfrm>
            <a:off x="8509099" y="3790950"/>
            <a:ext cx="2730549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Boole permitiu que a lógica fosse tratada matematicamente por operações numéricas precisas.</a:t>
            </a:r>
            <a:endParaRPr/>
          </a:p>
        </p:txBody>
      </p:sp>
      <p:pic>
        <p:nvPicPr>
          <p:cNvPr descr="image.png" id="131" name="Google Shape;131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5431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5431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54317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REDEFININDO A LÓGICA FORMAL</a:t>
            </a:r>
            <a:endParaRPr/>
          </a:p>
        </p:txBody>
      </p:sp>
      <p:sp>
        <p:nvSpPr>
          <p:cNvPr id="135" name="Google Shape;135;p17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41" name="Google Shape;141;p18"/>
          <p:cNvGraphicFramePr/>
          <p:nvPr/>
        </p:nvGraphicFramePr>
        <p:xfrm>
          <a:off x="571500" y="23002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{4C551C1E-C242-4EE4-8E69-B2E50A102E66}</a:tableStyleId>
              </a:tblPr>
              <a:tblGrid>
                <a:gridCol w="2196850"/>
                <a:gridCol w="4955075"/>
                <a:gridCol w="3897075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Exemplo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É Proposição?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Afirmação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"O Brasil fica na América do Sul"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✅ Sim</a:t>
                      </a: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(Verdadeiro)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Matemática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"2 + 2 = 5"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✅ Sim</a:t>
                      </a: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(Falso)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Pergunta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"Como você está?"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❌ Não</a:t>
                      </a: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(Subjetivo)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Emoção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"Estou cansado hoje!"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❌ Não</a:t>
                      </a: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(Não verificável)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</a:tbl>
          </a:graphicData>
        </a:graphic>
      </p:graphicFrame>
      <p:sp>
        <p:nvSpPr>
          <p:cNvPr id="142" name="Google Shape;142;p18"/>
          <p:cNvSpPr/>
          <p:nvPr/>
        </p:nvSpPr>
        <p:spPr>
          <a:xfrm>
            <a:off x="571500" y="3509962"/>
            <a:ext cx="21968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8"/>
          <p:cNvSpPr/>
          <p:nvPr/>
        </p:nvSpPr>
        <p:spPr>
          <a:xfrm>
            <a:off x="2768351" y="3509962"/>
            <a:ext cx="495508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8"/>
          <p:cNvSpPr/>
          <p:nvPr/>
        </p:nvSpPr>
        <p:spPr>
          <a:xfrm>
            <a:off x="7723435" y="3509962"/>
            <a:ext cx="389706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8"/>
          <p:cNvSpPr/>
          <p:nvPr/>
        </p:nvSpPr>
        <p:spPr>
          <a:xfrm>
            <a:off x="571500" y="4133850"/>
            <a:ext cx="21968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2768351" y="4133850"/>
            <a:ext cx="495508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8"/>
          <p:cNvSpPr/>
          <p:nvPr/>
        </p:nvSpPr>
        <p:spPr>
          <a:xfrm>
            <a:off x="7723435" y="4133850"/>
            <a:ext cx="389706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8"/>
          <p:cNvSpPr/>
          <p:nvPr/>
        </p:nvSpPr>
        <p:spPr>
          <a:xfrm>
            <a:off x="571500" y="4757737"/>
            <a:ext cx="21968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8"/>
          <p:cNvSpPr/>
          <p:nvPr/>
        </p:nvSpPr>
        <p:spPr>
          <a:xfrm>
            <a:off x="2768351" y="4757737"/>
            <a:ext cx="495508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8"/>
          <p:cNvSpPr/>
          <p:nvPr/>
        </p:nvSpPr>
        <p:spPr>
          <a:xfrm>
            <a:off x="7723435" y="4757737"/>
            <a:ext cx="389706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8"/>
          <p:cNvSpPr/>
          <p:nvPr/>
        </p:nvSpPr>
        <p:spPr>
          <a:xfrm>
            <a:off x="571500" y="5381625"/>
            <a:ext cx="219685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8"/>
          <p:cNvSpPr/>
          <p:nvPr/>
        </p:nvSpPr>
        <p:spPr>
          <a:xfrm>
            <a:off x="2768351" y="5381625"/>
            <a:ext cx="495508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8"/>
          <p:cNvSpPr/>
          <p:nvPr/>
        </p:nvSpPr>
        <p:spPr>
          <a:xfrm>
            <a:off x="7723435" y="5381625"/>
            <a:ext cx="389706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8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 QUE É VERIFICÁVEL?</a:t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/>
          <p:nvPr/>
        </p:nvSpPr>
        <p:spPr>
          <a:xfrm>
            <a:off x="5524500" y="857250"/>
            <a:ext cx="1143000" cy="571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3765708" y="1200150"/>
            <a:ext cx="4660582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OPERAÇÕES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BOOLEANAS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7" name="Google Shape;16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0775"/>
            <a:ext cx="523875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952500" y="2809875"/>
            <a:ext cx="47005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 CONJUNÇÃO</a:t>
            </a:r>
            <a:endParaRPr/>
          </a:p>
        </p:txBody>
      </p:sp>
      <p:sp>
        <p:nvSpPr>
          <p:cNvPr id="170" name="Google Shape;170;p20"/>
          <p:cNvSpPr txBox="1"/>
          <p:nvPr/>
        </p:nvSpPr>
        <p:spPr>
          <a:xfrm>
            <a:off x="952500" y="3305175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resultado só é verdadeiro quando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todas</a:t>
            </a: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as proposições envolvidas são verdadeiras.</a:t>
            </a:r>
            <a:endParaRPr/>
          </a:p>
        </p:txBody>
      </p:sp>
      <p:sp>
        <p:nvSpPr>
          <p:cNvPr id="171" name="Google Shape;171;p20"/>
          <p:cNvSpPr txBox="1"/>
          <p:nvPr/>
        </p:nvSpPr>
        <p:spPr>
          <a:xfrm>
            <a:off x="952500" y="4067175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"O sistema libera o acesso SE o usuário é cadastrado E a senha está correta."</a:t>
            </a:r>
            <a:endParaRPr/>
          </a:p>
        </p:txBody>
      </p:sp>
      <p:graphicFrame>
        <p:nvGraphicFramePr>
          <p:cNvPr id="172" name="Google Shape;172;p20"/>
          <p:cNvGraphicFramePr/>
          <p:nvPr/>
        </p:nvGraphicFramePr>
        <p:xfrm>
          <a:off x="6381750" y="23002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{4C551C1E-C242-4EE4-8E69-B2E50A102E66}</a:tableStyleId>
              </a:tblPr>
              <a:tblGrid>
                <a:gridCol w="1093300"/>
                <a:gridCol w="1070525"/>
                <a:gridCol w="3074925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Resultado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</a:tbl>
          </a:graphicData>
        </a:graphic>
      </p:graphicFrame>
      <p:sp>
        <p:nvSpPr>
          <p:cNvPr id="173" name="Google Shape;173;p20"/>
          <p:cNvSpPr/>
          <p:nvPr/>
        </p:nvSpPr>
        <p:spPr>
          <a:xfrm>
            <a:off x="6381750" y="3509962"/>
            <a:ext cx="10932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20"/>
          <p:cNvSpPr/>
          <p:nvPr/>
        </p:nvSpPr>
        <p:spPr>
          <a:xfrm>
            <a:off x="7475041" y="3509962"/>
            <a:ext cx="10705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8545562" y="3509962"/>
            <a:ext cx="307493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6381750" y="4133850"/>
            <a:ext cx="10932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0"/>
          <p:cNvSpPr/>
          <p:nvPr/>
        </p:nvSpPr>
        <p:spPr>
          <a:xfrm>
            <a:off x="7475041" y="4133850"/>
            <a:ext cx="10705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0"/>
          <p:cNvSpPr/>
          <p:nvPr/>
        </p:nvSpPr>
        <p:spPr>
          <a:xfrm>
            <a:off x="8545562" y="4133850"/>
            <a:ext cx="307493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20"/>
          <p:cNvSpPr/>
          <p:nvPr/>
        </p:nvSpPr>
        <p:spPr>
          <a:xfrm>
            <a:off x="6381750" y="4757737"/>
            <a:ext cx="10932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7475041" y="4757737"/>
            <a:ext cx="10705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0"/>
          <p:cNvSpPr/>
          <p:nvPr/>
        </p:nvSpPr>
        <p:spPr>
          <a:xfrm>
            <a:off x="8545562" y="4757737"/>
            <a:ext cx="307493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20"/>
          <p:cNvSpPr/>
          <p:nvPr/>
        </p:nvSpPr>
        <p:spPr>
          <a:xfrm>
            <a:off x="6381750" y="5381625"/>
            <a:ext cx="10932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0"/>
          <p:cNvSpPr/>
          <p:nvPr/>
        </p:nvSpPr>
        <p:spPr>
          <a:xfrm>
            <a:off x="7475041" y="5381625"/>
            <a:ext cx="10705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0"/>
          <p:cNvSpPr/>
          <p:nvPr/>
        </p:nvSpPr>
        <p:spPr>
          <a:xfrm>
            <a:off x="8545562" y="5381625"/>
            <a:ext cx="307493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0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OPERAÇÃO AND (E) — &amp;&amp;</a:t>
            </a:r>
            <a:endParaRPr/>
          </a:p>
        </p:txBody>
      </p:sp>
      <p:sp>
        <p:nvSpPr>
          <p:cNvPr id="186" name="Google Shape;186;p20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90775"/>
            <a:ext cx="5238750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1"/>
          <p:cNvSpPr txBox="1"/>
          <p:nvPr/>
        </p:nvSpPr>
        <p:spPr>
          <a:xfrm>
            <a:off x="952500" y="2809875"/>
            <a:ext cx="4700587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 DISJUNÇÃO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952500" y="3305175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resultado é verdadeiro quando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pelo menos uma</a:t>
            </a: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das proposições é verdadeira.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952500" y="4067175"/>
            <a:ext cx="4476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"O desconto é aplicado SE o cliente tem cupom OU é membro fidelidade."</a:t>
            </a:r>
            <a:endParaRPr/>
          </a:p>
        </p:txBody>
      </p:sp>
      <p:graphicFrame>
        <p:nvGraphicFramePr>
          <p:cNvPr id="196" name="Google Shape;196;p21"/>
          <p:cNvGraphicFramePr/>
          <p:nvPr/>
        </p:nvGraphicFramePr>
        <p:xfrm>
          <a:off x="6381750" y="230028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{4C551C1E-C242-4EE4-8E69-B2E50A102E66}</a:tableStyleId>
              </a:tblPr>
              <a:tblGrid>
                <a:gridCol w="1093300"/>
                <a:gridCol w="1070525"/>
                <a:gridCol w="3074925"/>
              </a:tblGrid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Resultado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</a:tbl>
          </a:graphicData>
        </a:graphic>
      </p:graphicFrame>
      <p:sp>
        <p:nvSpPr>
          <p:cNvPr id="197" name="Google Shape;197;p21"/>
          <p:cNvSpPr/>
          <p:nvPr/>
        </p:nvSpPr>
        <p:spPr>
          <a:xfrm>
            <a:off x="6381750" y="3509962"/>
            <a:ext cx="10932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1"/>
          <p:cNvSpPr/>
          <p:nvPr/>
        </p:nvSpPr>
        <p:spPr>
          <a:xfrm>
            <a:off x="7475041" y="3509962"/>
            <a:ext cx="10705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1"/>
          <p:cNvSpPr/>
          <p:nvPr/>
        </p:nvSpPr>
        <p:spPr>
          <a:xfrm>
            <a:off x="8545562" y="3509962"/>
            <a:ext cx="307493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1"/>
          <p:cNvSpPr/>
          <p:nvPr/>
        </p:nvSpPr>
        <p:spPr>
          <a:xfrm>
            <a:off x="6381750" y="4133850"/>
            <a:ext cx="10932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7475041" y="4133850"/>
            <a:ext cx="10705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8545562" y="4133850"/>
            <a:ext cx="307493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6381750" y="4757737"/>
            <a:ext cx="10932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/>
          <p:nvPr/>
        </p:nvSpPr>
        <p:spPr>
          <a:xfrm>
            <a:off x="7475041" y="4757737"/>
            <a:ext cx="10705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1"/>
          <p:cNvSpPr/>
          <p:nvPr/>
        </p:nvSpPr>
        <p:spPr>
          <a:xfrm>
            <a:off x="8545562" y="4757737"/>
            <a:ext cx="307493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1"/>
          <p:cNvSpPr/>
          <p:nvPr/>
        </p:nvSpPr>
        <p:spPr>
          <a:xfrm>
            <a:off x="6381750" y="5381625"/>
            <a:ext cx="1093291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1"/>
          <p:cNvSpPr/>
          <p:nvPr/>
        </p:nvSpPr>
        <p:spPr>
          <a:xfrm>
            <a:off x="7475041" y="5381625"/>
            <a:ext cx="1070520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1"/>
          <p:cNvSpPr/>
          <p:nvPr/>
        </p:nvSpPr>
        <p:spPr>
          <a:xfrm>
            <a:off x="8545562" y="5381625"/>
            <a:ext cx="307493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OPERAÇÃO OR (OU) — ||</a:t>
            </a:r>
            <a:endParaRPr/>
          </a:p>
        </p:txBody>
      </p:sp>
      <p:sp>
        <p:nvSpPr>
          <p:cNvPr id="210" name="Google Shape;210;p21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5" name="Google Shape;21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71500" y="2609850"/>
            <a:ext cx="523875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!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571500" y="4514850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A INVERSÃO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6381750" y="2428875"/>
            <a:ext cx="5500687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Simples e Poderoso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381750" y="2838450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operador NOT inverte o valor de uma proposição. O que era verdadeiro vira falso, e vice-versa.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6381750" y="3971925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Tabela Verdade: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6381750" y="4448175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(0) →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NOT A (1)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6381750" y="4733925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A (1) →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NOT A (0)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OPERAÇÃO NOT (NÃO) — !</a:t>
            </a:r>
            <a:endParaRPr/>
          </a:p>
        </p:txBody>
      </p:sp>
      <p:sp>
        <p:nvSpPr>
          <p:cNvPr id="224" name="Google Shape;224;p22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9" name="Google Shape;229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3"/>
          <p:cNvSpPr txBox="1"/>
          <p:nvPr/>
        </p:nvSpPr>
        <p:spPr>
          <a:xfrm>
            <a:off x="952500" y="1552575"/>
            <a:ext cx="4769346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DO CONCEITO AO CÓDIGO</a:t>
            </a:r>
            <a:endParaRPr/>
          </a:p>
        </p:txBody>
      </p:sp>
      <p:sp>
        <p:nvSpPr>
          <p:cNvPr id="231" name="Google Shape;231;p23"/>
          <p:cNvSpPr/>
          <p:nvPr/>
        </p:nvSpPr>
        <p:spPr>
          <a:xfrm>
            <a:off x="762000" y="1552575"/>
            <a:ext cx="57150" cy="3619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762000" y="4581525"/>
            <a:ext cx="4732734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O computador utiliza exclusivamente a álgebra booleana para tomar decisões de fluxo.</a:t>
            </a:r>
            <a:endParaRPr/>
          </a:p>
        </p:txBody>
      </p:sp>
      <p:pic>
        <p:nvPicPr>
          <p:cNvPr descr="image.png" id="233" name="Google Shape;23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56734" y="0"/>
            <a:ext cx="593526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4"/>
          <p:cNvSpPr txBox="1"/>
          <p:nvPr/>
        </p:nvSpPr>
        <p:spPr>
          <a:xfrm>
            <a:off x="571500" y="2231231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Variáveis</a:t>
            </a: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são caixinhas onde guardamos valores para verificação. Precisamos definir o nome e o </a:t>
            </a:r>
            <a:r>
              <a:rPr b="1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tipo</a:t>
            </a: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/>
          </a:p>
        </p:txBody>
      </p:sp>
      <p:graphicFrame>
        <p:nvGraphicFramePr>
          <p:cNvPr id="240" name="Google Shape;240;p24"/>
          <p:cNvGraphicFramePr/>
          <p:nvPr/>
        </p:nvGraphicFramePr>
        <p:xfrm>
          <a:off x="571500" y="308848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{4C551C1E-C242-4EE4-8E69-B2E50A102E66}</a:tableStyleId>
              </a:tblPr>
              <a:tblGrid>
                <a:gridCol w="2912275"/>
                <a:gridCol w="3245650"/>
                <a:gridCol w="4891075"/>
              </a:tblGrid>
              <a:tr h="61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Variável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0000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Conteúdo Possível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61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tipo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string (texto)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"sedan", "hatch", "SUV"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string (texto)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"azul", "vermelho"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EFF9A"/>
                    </a:solidFill>
                  </a:tcPr>
                </a:tc>
              </a:tr>
              <a:tr h="6179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estaLogado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boolean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425" u="none" cap="none" strike="noStrike">
                          <a:solidFill>
                            <a:srgbClr val="FFFFFF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true ou false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1" name="Google Shape;241;p24"/>
          <p:cNvSpPr/>
          <p:nvPr/>
        </p:nvSpPr>
        <p:spPr>
          <a:xfrm>
            <a:off x="571500" y="4298156"/>
            <a:ext cx="291226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3483768" y="4298156"/>
            <a:ext cx="324564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4"/>
          <p:cNvSpPr/>
          <p:nvPr/>
        </p:nvSpPr>
        <p:spPr>
          <a:xfrm>
            <a:off x="6729412" y="4298156"/>
            <a:ext cx="489108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4"/>
          <p:cNvSpPr/>
          <p:nvPr/>
        </p:nvSpPr>
        <p:spPr>
          <a:xfrm>
            <a:off x="571500" y="4922043"/>
            <a:ext cx="291226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4"/>
          <p:cNvSpPr/>
          <p:nvPr/>
        </p:nvSpPr>
        <p:spPr>
          <a:xfrm>
            <a:off x="3483768" y="4922043"/>
            <a:ext cx="324564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4"/>
          <p:cNvSpPr/>
          <p:nvPr/>
        </p:nvSpPr>
        <p:spPr>
          <a:xfrm>
            <a:off x="6729412" y="4922043"/>
            <a:ext cx="489108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/>
          <p:nvPr/>
        </p:nvSpPr>
        <p:spPr>
          <a:xfrm>
            <a:off x="571500" y="5545931"/>
            <a:ext cx="291226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4"/>
          <p:cNvSpPr/>
          <p:nvPr/>
        </p:nvSpPr>
        <p:spPr>
          <a:xfrm>
            <a:off x="3483768" y="5545931"/>
            <a:ext cx="3245643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/>
          <p:nvPr/>
        </p:nvSpPr>
        <p:spPr>
          <a:xfrm>
            <a:off x="6729412" y="5545931"/>
            <a:ext cx="4891087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24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REPRESENTANDO INFORMAÇÕES</a:t>
            </a:r>
            <a:endParaRPr/>
          </a:p>
        </p:txBody>
      </p:sp>
      <p:sp>
        <p:nvSpPr>
          <p:cNvPr id="251" name="Google Shape;251;p24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6" name="Google Shape;25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5"/>
          <p:cNvSpPr txBox="1"/>
          <p:nvPr/>
        </p:nvSpPr>
        <p:spPr>
          <a:xfrm>
            <a:off x="488632" y="3614737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Representar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571500" y="4024312"/>
            <a:ext cx="3314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Criar variáveis com os tipos corretos para a informação.</a:t>
            </a:r>
            <a:endParaRPr/>
          </a:p>
        </p:txBody>
      </p:sp>
      <p:sp>
        <p:nvSpPr>
          <p:cNvPr id="259" name="Google Shape;259;p25"/>
          <p:cNvSpPr txBox="1"/>
          <p:nvPr/>
        </p:nvSpPr>
        <p:spPr>
          <a:xfrm>
            <a:off x="4355782" y="3614737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Comparar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4438650" y="4024312"/>
            <a:ext cx="3314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Estabelecer as regras do que é verdadeiro ou falso.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8222932" y="3614737"/>
            <a:ext cx="3480435" cy="219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Aplicar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8305800" y="4024312"/>
            <a:ext cx="33147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Implementar o fluxo lógico com AND, OR e NOT.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O CICLO DO PROGRAMADOR</a:t>
            </a:r>
            <a:endParaRPr/>
          </a:p>
        </p:txBody>
      </p:sp>
      <p:sp>
        <p:nvSpPr>
          <p:cNvPr id="264" name="Google Shape;264;p25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2228850" y="3309937"/>
            <a:ext cx="77343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2114550" y="3195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981700" y="3195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9848850" y="31956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3" name="Google Shape;273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295275" y="1538287"/>
            <a:ext cx="11601450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0000"/>
                </a:solidFill>
                <a:latin typeface="Urbanist"/>
                <a:ea typeface="Urbanist"/>
                <a:cs typeface="Urbanist"/>
                <a:sym typeface="Urbanist"/>
              </a:rPr>
              <a:t>Dúvidas?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571500" y="26527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Roboto"/>
                <a:ea typeface="Roboto"/>
                <a:cs typeface="Roboto"/>
                <a:sym typeface="Roboto"/>
              </a:rPr>
              <a:t>PRATIQUE NO CODEWARS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571500" y="331946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8888"/>
                </a:solidFill>
                <a:latin typeface="Roboto"/>
                <a:ea typeface="Roboto"/>
                <a:cs typeface="Roboto"/>
                <a:sym typeface="Roboto"/>
              </a:rPr>
              <a:t>Nível Iniciante (8 kyu) e Intermediário (7 kyu)</a:t>
            </a:r>
            <a:endParaRPr/>
          </a:p>
        </p:txBody>
      </p:sp>
      <p:pic>
        <p:nvPicPr>
          <p:cNvPr descr="image.png" id="277" name="Google Shape;27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00687" y="4367212"/>
            <a:ext cx="119062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7"/>
          <p:cNvSpPr/>
          <p:nvPr/>
        </p:nvSpPr>
        <p:spPr>
          <a:xfrm>
            <a:off x="571500" y="30337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571500" y="3795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571500" y="37957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6" name="Google Shape;28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765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1666875" y="31837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https://arthistoryproject.com/site/assets/files/18045/ancient-greece-portrait-of-aristotle-100-obelisk-art-history.png</a:t>
            </a:r>
            <a:endParaRPr/>
          </a:p>
        </p:txBody>
      </p:sp>
      <p:sp>
        <p:nvSpPr>
          <p:cNvPr id="288" name="Google Shape;288;p27"/>
          <p:cNvSpPr txBox="1"/>
          <p:nvPr/>
        </p:nvSpPr>
        <p:spPr>
          <a:xfrm>
            <a:off x="1666875" y="34170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www.arthistoryproject.com</a:t>
            </a:r>
            <a:endParaRPr/>
          </a:p>
        </p:txBody>
      </p:sp>
      <p:pic>
        <p:nvPicPr>
          <p:cNvPr descr="image.png" id="289" name="Google Shape;28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9481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27"/>
          <p:cNvSpPr txBox="1"/>
          <p:nvPr/>
        </p:nvSpPr>
        <p:spPr>
          <a:xfrm>
            <a:off x="1666875" y="39552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https://static.vecteezy.com/system/resources/previews/049/174/813/non_2x/blue-color-modern-car-isolated-in-transparent-background-free-png.png</a:t>
            </a:r>
            <a:endParaRPr/>
          </a:p>
        </p:txBody>
      </p:sp>
      <p:sp>
        <p:nvSpPr>
          <p:cNvPr id="291" name="Google Shape;291;p27"/>
          <p:cNvSpPr txBox="1"/>
          <p:nvPr/>
        </p:nvSpPr>
        <p:spPr>
          <a:xfrm>
            <a:off x="1666875" y="41886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Roboto"/>
                <a:ea typeface="Roboto"/>
                <a:cs typeface="Roboto"/>
                <a:sym typeface="Roboto"/>
              </a:rPr>
              <a:t>www.vecteezy.com</a:t>
            </a:r>
            <a:endParaRPr/>
          </a:p>
        </p:txBody>
      </p:sp>
      <p:sp>
        <p:nvSpPr>
          <p:cNvPr id="292" name="Google Shape;292;p27"/>
          <p:cNvSpPr txBox="1"/>
          <p:nvPr/>
        </p:nvSpPr>
        <p:spPr>
          <a:xfrm>
            <a:off x="762000" y="571500"/>
            <a:ext cx="11401425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  <p:sp>
        <p:nvSpPr>
          <p:cNvPr id="293" name="Google Shape;293;p27"/>
          <p:cNvSpPr/>
          <p:nvPr/>
        </p:nvSpPr>
        <p:spPr>
          <a:xfrm>
            <a:off x="571500" y="571500"/>
            <a:ext cx="57150" cy="3619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