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Urbanist"/>
      <p:regular r:id="rId21"/>
      <p:bold r:id="rId22"/>
      <p:italic r:id="rId23"/>
      <p:boldItalic r:id="rId24"/>
    </p:embeddedFont>
    <p:embeddedFont>
      <p:font typeface="JetBrains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BE6162-14A8-4BB6-A1CE-A02C1F5C6AAE}">
  <a:tblStyle styleId="{51BE6162-14A8-4BB6-A1CE-A02C1F5C6AA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Urbanist-bold.fntdata"/><Relationship Id="rId21" Type="http://schemas.openxmlformats.org/officeDocument/2006/relationships/font" Target="fonts/Urbanist-regular.fntdata"/><Relationship Id="rId24" Type="http://schemas.openxmlformats.org/officeDocument/2006/relationships/font" Target="fonts/Urbanist-boldItalic.fntdata"/><Relationship Id="rId23" Type="http://schemas.openxmlformats.org/officeDocument/2006/relationships/font" Target="fonts/Urbanis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JetBrainsMono-bold.fntdata"/><Relationship Id="rId25" Type="http://schemas.openxmlformats.org/officeDocument/2006/relationships/font" Target="fonts/JetBrainsMono-regular.fntdata"/><Relationship Id="rId28" Type="http://schemas.openxmlformats.org/officeDocument/2006/relationships/font" Target="fonts/JetBrainsMono-boldItalic.fntdata"/><Relationship Id="rId27" Type="http://schemas.openxmlformats.org/officeDocument/2006/relationships/font" Target="fonts/JetBrainsMon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59ad2bde5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e59ad2bde5_0_7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7.png"/><Relationship Id="rId6" Type="http://schemas.openxmlformats.org/officeDocument/2006/relationships/image" Target="../media/image14.png"/><Relationship Id="rId7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3.png"/><Relationship Id="rId8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2.png"/><Relationship Id="rId6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3.png"/><Relationship Id="rId5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581025"/>
            <a:ext cx="11581447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Arquitetura e </a:t>
            </a: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Memória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1685925"/>
            <a:ext cx="110299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Da Programação Mecânica à Engenharia de Software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07009"/>
            <a:ext cx="5229225" cy="2777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507009"/>
            <a:ext cx="5229225" cy="277743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860345" y="3669059"/>
            <a:ext cx="467058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Programador Mecânico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71550" y="4097684"/>
            <a:ext cx="44481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Digita código sem entender o impacto no hardware. Refém das abstrações da linguagem.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661070" y="3669059"/>
            <a:ext cx="467058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Engenheiro de Software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72275" y="4097684"/>
            <a:ext cx="44481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Entende como a CPU pensa. Sabe para onde vai cada variável e como o ciclo se completa.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28937" y="2935634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58237" y="2935634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81025" y="581025"/>
            <a:ext cx="717089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 GANCHO: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ABRINDO O CAPÔ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" name="Google Shape;106;p15"/>
          <p:cNvGrpSpPr/>
          <p:nvPr/>
        </p:nvGrpSpPr>
        <p:grpSpPr>
          <a:xfrm>
            <a:off x="571500" y="571500"/>
            <a:ext cx="7620000" cy="847725"/>
            <a:chOff x="571500" y="571500"/>
            <a:chExt cx="7620000" cy="847725"/>
          </a:xfrm>
        </p:grpSpPr>
        <p:sp>
          <p:nvSpPr>
            <p:cNvPr id="107" name="Google Shape;107;p15"/>
            <p:cNvSpPr txBox="1"/>
            <p:nvPr/>
          </p:nvSpPr>
          <p:spPr>
            <a:xfrm>
              <a:off x="571500" y="57150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20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O Modelo de </a:t>
              </a:r>
              <a:r>
                <a:rPr b="1" lang="en-US" sz="42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Von Neumann</a:t>
              </a:r>
              <a:endParaRPr b="1" sz="42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571500" y="1381125"/>
              <a:ext cx="1143000" cy="38100"/>
            </a:xfrm>
            <a:prstGeom prst="rect">
              <a:avLst/>
            </a:prstGeom>
            <a:solidFill>
              <a:srgbClr val="DEFF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" name="Google Shape;109;p15"/>
          <p:cNvGrpSpPr/>
          <p:nvPr/>
        </p:nvGrpSpPr>
        <p:grpSpPr>
          <a:xfrm>
            <a:off x="571500" y="1714500"/>
            <a:ext cx="5381700" cy="1143000"/>
            <a:chOff x="571500" y="1714500"/>
            <a:chExt cx="5381700" cy="1143000"/>
          </a:xfrm>
        </p:grpSpPr>
        <p:sp>
          <p:nvSpPr>
            <p:cNvPr id="110" name="Google Shape;110;p15"/>
            <p:cNvSpPr/>
            <p:nvPr/>
          </p:nvSpPr>
          <p:spPr>
            <a:xfrm>
              <a:off x="571500" y="1714500"/>
              <a:ext cx="5381700" cy="1143000"/>
            </a:xfrm>
            <a:prstGeom prst="roundRect">
              <a:avLst>
                <a:gd fmla="val 10000" name="adj"/>
              </a:avLst>
            </a:prstGeom>
            <a:solidFill>
              <a:srgbClr val="1A1A1A"/>
            </a:solidFill>
            <a:ln cap="flat" cmpd="sng" w="9525">
              <a:solidFill>
                <a:srgbClr val="DEFF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5"/>
            <p:cNvSpPr txBox="1"/>
            <p:nvPr/>
          </p:nvSpPr>
          <p:spPr>
            <a:xfrm>
              <a:off x="762000" y="189826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memory</a:t>
              </a:r>
              <a:endParaRPr sz="2380">
                <a:solidFill>
                  <a:srgbClr val="DEFF9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2" name="Google Shape;112;p15"/>
            <p:cNvSpPr txBox="1"/>
            <p:nvPr/>
          </p:nvSpPr>
          <p:spPr>
            <a:xfrm>
              <a:off x="1285875" y="1809750"/>
              <a:ext cx="4476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CPU</a:t>
              </a:r>
              <a:endParaRPr b="1" sz="20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O cérebro (Unidade de Controle + ULA)</a:t>
              </a:r>
              <a:endParaRPr b="0" sz="1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13" name="Google Shape;113;p15"/>
          <p:cNvGrpSpPr/>
          <p:nvPr/>
        </p:nvGrpSpPr>
        <p:grpSpPr>
          <a:xfrm>
            <a:off x="6238875" y="1714500"/>
            <a:ext cx="5381700" cy="1143000"/>
            <a:chOff x="6238875" y="1714500"/>
            <a:chExt cx="5381700" cy="1143000"/>
          </a:xfrm>
        </p:grpSpPr>
        <p:sp>
          <p:nvSpPr>
            <p:cNvPr id="114" name="Google Shape;114;p15"/>
            <p:cNvSpPr/>
            <p:nvPr/>
          </p:nvSpPr>
          <p:spPr>
            <a:xfrm>
              <a:off x="6238875" y="1714500"/>
              <a:ext cx="5381700" cy="1143000"/>
            </a:xfrm>
            <a:prstGeom prst="roundRect">
              <a:avLst>
                <a:gd fmla="val 10000" name="adj"/>
              </a:avLst>
            </a:prstGeom>
            <a:solidFill>
              <a:srgbClr val="1A1A1A"/>
            </a:solidFill>
            <a:ln cap="flat" cmpd="sng" w="9525">
              <a:solidFill>
                <a:srgbClr val="DEFF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 txBox="1"/>
            <p:nvPr/>
          </p:nvSpPr>
          <p:spPr>
            <a:xfrm>
              <a:off x="6429375" y="189826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2380">
                <a:solidFill>
                  <a:srgbClr val="DEFF9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6" name="Google Shape;116;p15"/>
            <p:cNvSpPr txBox="1"/>
            <p:nvPr/>
          </p:nvSpPr>
          <p:spPr>
            <a:xfrm>
              <a:off x="6953250" y="1809750"/>
              <a:ext cx="4476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Memória RAM</a:t>
              </a:r>
              <a:endParaRPr b="1" sz="20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Onde vivem dados e instruções</a:t>
              </a:r>
              <a:endParaRPr b="0" sz="1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17" name="Google Shape;117;p15"/>
          <p:cNvGrpSpPr/>
          <p:nvPr/>
        </p:nvGrpSpPr>
        <p:grpSpPr>
          <a:xfrm>
            <a:off x="571500" y="3048000"/>
            <a:ext cx="5381700" cy="1143000"/>
            <a:chOff x="571500" y="3048000"/>
            <a:chExt cx="5381700" cy="1143000"/>
          </a:xfrm>
        </p:grpSpPr>
        <p:sp>
          <p:nvSpPr>
            <p:cNvPr id="118" name="Google Shape;118;p15"/>
            <p:cNvSpPr/>
            <p:nvPr/>
          </p:nvSpPr>
          <p:spPr>
            <a:xfrm>
              <a:off x="571500" y="3048000"/>
              <a:ext cx="5381700" cy="1143000"/>
            </a:xfrm>
            <a:prstGeom prst="roundRect">
              <a:avLst>
                <a:gd fmla="val 10000" name="adj"/>
              </a:avLst>
            </a:prstGeom>
            <a:solidFill>
              <a:srgbClr val="1A1A1A"/>
            </a:solidFill>
            <a:ln cap="flat" cmpd="sng" w="9525">
              <a:solidFill>
                <a:srgbClr val="DEFF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5"/>
            <p:cNvSpPr txBox="1"/>
            <p:nvPr/>
          </p:nvSpPr>
          <p:spPr>
            <a:xfrm>
              <a:off x="762000" y="323176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input</a:t>
              </a:r>
              <a:endParaRPr sz="2380">
                <a:solidFill>
                  <a:srgbClr val="DEFF9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1285875" y="3143250"/>
              <a:ext cx="4476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E/S</a:t>
              </a:r>
              <a:endParaRPr b="1" sz="20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Interface com o mundo (Teclado, Monitor)</a:t>
              </a:r>
              <a:endParaRPr b="0" sz="1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21" name="Google Shape;121;p15"/>
          <p:cNvGrpSpPr/>
          <p:nvPr/>
        </p:nvGrpSpPr>
        <p:grpSpPr>
          <a:xfrm>
            <a:off x="6238875" y="3048000"/>
            <a:ext cx="5381700" cy="1143000"/>
            <a:chOff x="6238875" y="3048000"/>
            <a:chExt cx="5381700" cy="1143000"/>
          </a:xfrm>
        </p:grpSpPr>
        <p:sp>
          <p:nvSpPr>
            <p:cNvPr id="122" name="Google Shape;122;p15"/>
            <p:cNvSpPr/>
            <p:nvPr/>
          </p:nvSpPr>
          <p:spPr>
            <a:xfrm>
              <a:off x="6238875" y="3048000"/>
              <a:ext cx="5381700" cy="1143000"/>
            </a:xfrm>
            <a:prstGeom prst="roundRect">
              <a:avLst>
                <a:gd fmla="val 10000" name="adj"/>
              </a:avLst>
            </a:prstGeom>
            <a:solidFill>
              <a:srgbClr val="1A1A1A"/>
            </a:solidFill>
            <a:ln cap="flat" cmpd="sng" w="9525">
              <a:solidFill>
                <a:srgbClr val="DEFF9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5"/>
            <p:cNvSpPr txBox="1"/>
            <p:nvPr/>
          </p:nvSpPr>
          <p:spPr>
            <a:xfrm>
              <a:off x="6429375" y="323176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80">
                  <a:solidFill>
                    <a:srgbClr val="DEFF9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alt_route</a:t>
              </a:r>
              <a:endParaRPr sz="2380">
                <a:solidFill>
                  <a:srgbClr val="DEFF9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4" name="Google Shape;124;p15"/>
            <p:cNvSpPr txBox="1"/>
            <p:nvPr/>
          </p:nvSpPr>
          <p:spPr>
            <a:xfrm>
              <a:off x="6953250" y="3143250"/>
              <a:ext cx="4476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Barramentos</a:t>
              </a:r>
              <a:endParaRPr b="1" sz="20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As estradas de bits que conectam tudo</a:t>
              </a:r>
              <a:endParaRPr b="0" sz="14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25" name="Google Shape;125;p15"/>
          <p:cNvGrpSpPr/>
          <p:nvPr/>
        </p:nvGrpSpPr>
        <p:grpSpPr>
          <a:xfrm>
            <a:off x="571500" y="4953000"/>
            <a:ext cx="11049000" cy="952500"/>
            <a:chOff x="571500" y="4953000"/>
            <a:chExt cx="11049000" cy="952500"/>
          </a:xfrm>
        </p:grpSpPr>
        <p:sp>
          <p:nvSpPr>
            <p:cNvPr id="126" name="Google Shape;126;p15"/>
            <p:cNvSpPr/>
            <p:nvPr/>
          </p:nvSpPr>
          <p:spPr>
            <a:xfrm>
              <a:off x="571500" y="4953000"/>
              <a:ext cx="11049000" cy="952500"/>
            </a:xfrm>
            <a:prstGeom prst="roundRect">
              <a:avLst>
                <a:gd fmla="val 15000" name="adj"/>
              </a:avLst>
            </a:prstGeom>
            <a:solidFill>
              <a:srgbClr val="DEFF9A">
                <a:alpha val="8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5"/>
            <p:cNvSpPr txBox="1"/>
            <p:nvPr/>
          </p:nvSpPr>
          <p:spPr>
            <a:xfrm>
              <a:off x="1238250" y="4953000"/>
              <a:ext cx="10001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20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"Dados e programas compartilham o mesmo espaço."</a:t>
              </a:r>
              <a:endParaRPr b="0" i="1" sz="22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 txBox="1"/>
          <p:nvPr/>
        </p:nvSpPr>
        <p:spPr>
          <a:xfrm>
            <a:off x="581025" y="581025"/>
            <a:ext cx="6981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2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 Modelo de </a:t>
            </a:r>
            <a:r>
              <a:rPr b="1" lang="en-US" sz="42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Von Neumann</a:t>
            </a:r>
            <a:endParaRPr b="1" sz="420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33" name="Google Shape;13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300" y="1173000"/>
            <a:ext cx="11439401" cy="5418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60265"/>
            <a:ext cx="3486150" cy="30707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360265"/>
            <a:ext cx="3486150" cy="30707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360265"/>
            <a:ext cx="3486150" cy="307077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903922" y="3522315"/>
            <a:ext cx="284035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Busca (Fetch)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71550" y="3950940"/>
            <a:ext cx="27051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 processador olha no "Livro de Receitas" (Memória) qual a próxima ordem.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4675822" y="3522315"/>
            <a:ext cx="284035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Decodifica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4743450" y="3950940"/>
            <a:ext cx="27051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Traduz os bits (0s e 1s) para entender qual circuito elétrico deve ser acionado.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447722" y="3522315"/>
            <a:ext cx="284035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Executa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515350" y="3950940"/>
            <a:ext cx="27051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 ação acontece (uma soma, uma comparação ou uma movimentação).</a:t>
            </a:r>
            <a:endParaRPr/>
          </a:p>
        </p:txBody>
      </p:sp>
      <p:pic>
        <p:nvPicPr>
          <p:cNvPr descr="image.png" id="148" name="Google Shape;14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7400" y="2788890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78889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67862" y="2788890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581025" y="581025"/>
            <a:ext cx="624078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CICLO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BUSCA-EXECUÇÃO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581025" y="790575"/>
            <a:ext cx="110299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Bloco 2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305276" y="1293465"/>
            <a:ext cx="11581447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 ULA e a Lógica Nativa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5143500" y="2303115"/>
            <a:ext cx="1905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13707"/>
            <a:ext cx="5229225" cy="2764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738562"/>
            <a:ext cx="5229225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/>
          <p:nvPr/>
        </p:nvSpPr>
        <p:spPr>
          <a:xfrm>
            <a:off x="692875" y="3817850"/>
            <a:ext cx="4970400" cy="39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581025" y="2513707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Como o Hardware "pensa"?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581025" y="2942332"/>
            <a:ext cx="52292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 CPU não sabe o que é "Maior que". Ela usa o truque da subtração.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581025" y="4481512"/>
            <a:ext cx="52292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As </a:t>
            </a:r>
            <a:r>
              <a:rPr b="0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Flags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(sinalizadores) guardam se o resultado foi zero ou negativo.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661070" y="2904232"/>
            <a:ext cx="467058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Capacidades Nativas</a:t>
            </a:r>
            <a:endParaRPr/>
          </a:p>
        </p:txBody>
      </p:sp>
      <p:pic>
        <p:nvPicPr>
          <p:cNvPr descr="image.png" id="172" name="Google Shape;172;p19"/>
          <p:cNvPicPr preferRelativeResize="0"/>
          <p:nvPr/>
        </p:nvPicPr>
        <p:blipFill rotWithShape="1">
          <a:blip r:embed="rId6">
            <a:alphaModFix/>
          </a:blip>
          <a:srcRect b="17" l="0" r="0" t="-68339"/>
          <a:stretch/>
        </p:blipFill>
        <p:spPr>
          <a:xfrm>
            <a:off x="809625" y="3824917"/>
            <a:ext cx="4810125" cy="25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7115175" y="3293804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7153275" y="3294757"/>
            <a:ext cx="40671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Soma e Subtração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7115175" y="3587144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7153275" y="3588097"/>
            <a:ext cx="40671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Operações Lógicas (AND, OR, NOT)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7115175" y="3880485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7153275" y="3881437"/>
            <a:ext cx="40671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Deslocamento de Bits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581025" y="581025"/>
            <a:ext cx="698087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 TRUQUE DA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COMPARAÇÃO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" name="Google Shape;184;p20"/>
          <p:cNvGraphicFramePr/>
          <p:nvPr/>
        </p:nvGraphicFramePr>
        <p:xfrm>
          <a:off x="581025" y="22574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{51BE6162-14A8-4BB6-A1CE-A02C1F5C6AAE}</a:tableStyleId>
              </a:tblPr>
              <a:tblGrid>
                <a:gridCol w="1866900"/>
                <a:gridCol w="1895475"/>
                <a:gridCol w="2705100"/>
              </a:tblGrid>
              <a:tr h="65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Caractere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Decimal (ASCII)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Binário (O que a CPU vê)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65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'</a:t>
                      </a:r>
                      <a:r>
                        <a:rPr b="0" i="0" lang="en-US" sz="1650" u="none" cap="none" strike="noStrike">
                          <a:solidFill>
                            <a:srgbClr val="DEFF9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</a:t>
                      </a: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'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01000001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'B'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01000010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'C'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67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01000011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' ' (Espaço)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00100000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5" name="Google Shape;185;p20"/>
          <p:cNvSpPr/>
          <p:nvPr/>
        </p:nvSpPr>
        <p:spPr>
          <a:xfrm>
            <a:off x="581025" y="2922240"/>
            <a:ext cx="186690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2447925" y="2922240"/>
            <a:ext cx="1895475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4343400" y="2922240"/>
            <a:ext cx="270510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81025" y="3582292"/>
            <a:ext cx="18669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2447925" y="3582292"/>
            <a:ext cx="189547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4343400" y="3582292"/>
            <a:ext cx="27051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581025" y="4228058"/>
            <a:ext cx="18669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2447925" y="4228058"/>
            <a:ext cx="189547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4343400" y="4228058"/>
            <a:ext cx="27051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581025" y="4873823"/>
            <a:ext cx="18669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2447925" y="4873823"/>
            <a:ext cx="189547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4343400" y="4873823"/>
            <a:ext cx="27051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81025" y="5519588"/>
            <a:ext cx="18669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2447925" y="5519588"/>
            <a:ext cx="189547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4343400" y="5519588"/>
            <a:ext cx="27051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81025" y="581025"/>
            <a:ext cx="6170771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TEXTO É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NÚMERO</a:t>
            </a: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(ASCII)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581025" y="790575"/>
            <a:ext cx="110299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Bloco 3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305276" y="1293465"/>
            <a:ext cx="11581447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Memória e Variáveis</a:t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5143500" y="2303115"/>
            <a:ext cx="1905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90725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581025" y="3506985"/>
            <a:ext cx="52292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Comandos fundamentais: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581025" y="4009876"/>
            <a:ext cx="52292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LOAD: Pega o valor da caixa e traz para a CPU.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581025" y="4512766"/>
            <a:ext cx="52292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STORE: Guarda o resultado da CPU dentro da caixa.</a:t>
            </a:r>
            <a:endParaRPr/>
          </a:p>
        </p:txBody>
      </p:sp>
      <p:pic>
        <p:nvPicPr>
          <p:cNvPr descr="image.png" id="218" name="Google Shape;21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00250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923925" y="2142172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962025" y="2143125"/>
            <a:ext cx="48482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Endereço (Fixo):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 número do lado de fora da caixa de correio (Ex: 0x01).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923925" y="2728852"/>
            <a:ext cx="381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962025" y="2729805"/>
            <a:ext cx="48482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Valor (Volátil):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 papel que está dentro da caixa (Ex: 42).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581025" y="581025"/>
            <a:ext cx="631078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 METÁFORA DAS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CAIXAS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402335"/>
            <a:ext cx="3652837" cy="12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581025" y="2388840"/>
            <a:ext cx="7191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Mapa da Memória (RAM):</a:t>
            </a:r>
            <a:endParaRPr/>
          </a:p>
        </p:txBody>
      </p:sp>
      <p:graphicFrame>
        <p:nvGraphicFramePr>
          <p:cNvPr id="231" name="Google Shape;231;p23"/>
          <p:cNvGraphicFramePr/>
          <p:nvPr/>
        </p:nvGraphicFramePr>
        <p:xfrm>
          <a:off x="581025" y="27774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{51BE6162-14A8-4BB6-A1CE-A02C1F5C6AAE}</a:tableStyleId>
              </a:tblPr>
              <a:tblGrid>
                <a:gridCol w="2162475"/>
                <a:gridCol w="1220825"/>
                <a:gridCol w="1220825"/>
                <a:gridCol w="1220825"/>
                <a:gridCol w="682825"/>
                <a:gridCol w="683575"/>
              </a:tblGrid>
              <a:tr h="66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Endereço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66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Valor Inicial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10 (A)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20 (B)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-- (C)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--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DAFFDE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--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2" name="Google Shape;232;p23"/>
          <p:cNvSpPr/>
          <p:nvPr/>
        </p:nvSpPr>
        <p:spPr>
          <a:xfrm>
            <a:off x="581025" y="3442245"/>
            <a:ext cx="2162472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2743497" y="3442245"/>
            <a:ext cx="1220837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3964334" y="3442245"/>
            <a:ext cx="1220837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5185171" y="3442245"/>
            <a:ext cx="1220837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6406008" y="3442245"/>
            <a:ext cx="682823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7088832" y="3442245"/>
            <a:ext cx="683567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581025" y="4102298"/>
            <a:ext cx="216247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2743497" y="4102298"/>
            <a:ext cx="122083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3964334" y="4102298"/>
            <a:ext cx="122083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5185171" y="4102298"/>
            <a:ext cx="122083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6406008" y="4102298"/>
            <a:ext cx="68282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7088832" y="4102298"/>
            <a:ext cx="68356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2178843" y="4554735"/>
            <a:ext cx="457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Script: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4424362" y="4611885"/>
            <a:ext cx="3348037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Desafio: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Rastreie os valores. Qual será o valor final no endereço 3?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581025" y="581025"/>
            <a:ext cx="869108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ATIVIDADE: </a:t>
            </a:r>
            <a:r>
              <a:rPr b="1" i="0" lang="en-US" sz="3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COMPUTADOR DE PAPEL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571500" y="571500"/>
            <a:ext cx="11049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CONEXÃO: </a:t>
            </a:r>
            <a:r>
              <a:rPr b="1" lang="en-US" sz="42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ALTO VS BAIXO NÍVEL</a:t>
            </a:r>
            <a:endParaRPr b="1" sz="420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253" name="Google Shape;253;p24"/>
          <p:cNvGrpSpPr/>
          <p:nvPr/>
        </p:nvGrpSpPr>
        <p:grpSpPr>
          <a:xfrm>
            <a:off x="571500" y="1714500"/>
            <a:ext cx="5334000" cy="4000500"/>
            <a:chOff x="571500" y="1714500"/>
            <a:chExt cx="5334000" cy="4000500"/>
          </a:xfrm>
        </p:grpSpPr>
        <p:sp>
          <p:nvSpPr>
            <p:cNvPr id="254" name="Google Shape;254;p24"/>
            <p:cNvSpPr/>
            <p:nvPr/>
          </p:nvSpPr>
          <p:spPr>
            <a:xfrm>
              <a:off x="571500" y="1714500"/>
              <a:ext cx="5334000" cy="4000500"/>
            </a:xfrm>
            <a:prstGeom prst="roundRect">
              <a:avLst>
                <a:gd fmla="val 4761" name="adj"/>
              </a:avLst>
            </a:prstGeom>
            <a:solidFill>
              <a:srgbClr val="111111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4"/>
            <p:cNvSpPr txBox="1"/>
            <p:nvPr/>
          </p:nvSpPr>
          <p:spPr>
            <a:xfrm>
              <a:off x="857250" y="2000250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O que você escreve</a:t>
              </a:r>
              <a:endParaRPr b="1" sz="18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56" name="Google Shape;256;p24"/>
            <p:cNvSpPr/>
            <p:nvPr/>
          </p:nvSpPr>
          <p:spPr>
            <a:xfrm>
              <a:off x="857250" y="2571750"/>
              <a:ext cx="4762500" cy="1143000"/>
            </a:xfrm>
            <a:prstGeom prst="roundRect">
              <a:avLst>
                <a:gd fmla="val 8333" name="adj"/>
              </a:avLst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4"/>
            <p:cNvSpPr txBox="1"/>
            <p:nvPr/>
          </p:nvSpPr>
          <p:spPr>
            <a:xfrm>
              <a:off x="1047750" y="2571750"/>
              <a:ext cx="4381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DEFF9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 = a + b;</a:t>
              </a:r>
              <a:endParaRPr sz="2800">
                <a:solidFill>
                  <a:srgbClr val="DEFF9A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58" name="Google Shape;258;p24"/>
            <p:cNvSpPr txBox="1"/>
            <p:nvPr/>
          </p:nvSpPr>
          <p:spPr>
            <a:xfrm>
              <a:off x="857250" y="4000500"/>
              <a:ext cx="4762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• Simples</a:t>
              </a:r>
              <a:endParaRPr b="0" sz="22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• Legível</a:t>
              </a:r>
              <a:endParaRPr b="0" sz="22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• Abstrato</a:t>
              </a:r>
              <a:endParaRPr b="0" sz="22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259" name="Google Shape;259;p24"/>
          <p:cNvGrpSpPr/>
          <p:nvPr/>
        </p:nvGrpSpPr>
        <p:grpSpPr>
          <a:xfrm>
            <a:off x="6286500" y="1714500"/>
            <a:ext cx="5334000" cy="4000500"/>
            <a:chOff x="6286500" y="1714500"/>
            <a:chExt cx="5334000" cy="4000500"/>
          </a:xfrm>
        </p:grpSpPr>
        <p:sp>
          <p:nvSpPr>
            <p:cNvPr id="260" name="Google Shape;260;p24"/>
            <p:cNvSpPr/>
            <p:nvPr/>
          </p:nvSpPr>
          <p:spPr>
            <a:xfrm>
              <a:off x="6286500" y="1714500"/>
              <a:ext cx="5334000" cy="4000500"/>
            </a:xfrm>
            <a:prstGeom prst="roundRect">
              <a:avLst>
                <a:gd fmla="val 4761" name="adj"/>
              </a:avLst>
            </a:prstGeom>
            <a:solidFill>
              <a:srgbClr val="111111"/>
            </a:solidFill>
            <a:ln cap="flat" cmpd="sng" w="952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4"/>
            <p:cNvSpPr txBox="1"/>
            <p:nvPr/>
          </p:nvSpPr>
          <p:spPr>
            <a:xfrm>
              <a:off x="6572250" y="2000250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5F5F5"/>
                  </a:solidFill>
                  <a:latin typeface="Urbanist"/>
                  <a:ea typeface="Urbanist"/>
                  <a:cs typeface="Urbanist"/>
                  <a:sym typeface="Urbanist"/>
                </a:rPr>
                <a:t>O que a CPU executa</a:t>
              </a:r>
              <a:endParaRPr b="1" sz="18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262" name="Google Shape;262;p24"/>
            <p:cNvSpPr/>
            <p:nvPr/>
          </p:nvSpPr>
          <p:spPr>
            <a:xfrm>
              <a:off x="6572250" y="2571750"/>
              <a:ext cx="4762500" cy="1143000"/>
            </a:xfrm>
            <a:prstGeom prst="roundRect">
              <a:avLst>
                <a:gd fmla="val 8333" name="adj"/>
              </a:avLst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4"/>
            <p:cNvSpPr txBox="1"/>
            <p:nvPr/>
          </p:nvSpPr>
          <p:spPr>
            <a:xfrm>
              <a:off x="6762750" y="2571750"/>
              <a:ext cx="4381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DAFFDE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LOAD [0x01]</a:t>
              </a:r>
              <a:endParaRPr sz="1400">
                <a:solidFill>
                  <a:srgbClr val="DAFFDE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DAFFDE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LOAD [0x02]</a:t>
              </a:r>
              <a:endParaRPr sz="1400">
                <a:solidFill>
                  <a:srgbClr val="DAFFDE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DAFFDE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ADD</a:t>
              </a:r>
              <a:endParaRPr sz="1400">
                <a:solidFill>
                  <a:srgbClr val="DAFFDE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DAFFDE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STORE [0x03]</a:t>
              </a:r>
              <a:endParaRPr sz="1400">
                <a:solidFill>
                  <a:srgbClr val="DAFFDE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64" name="Google Shape;264;p24"/>
            <p:cNvSpPr txBox="1"/>
            <p:nvPr/>
          </p:nvSpPr>
          <p:spPr>
            <a:xfrm>
              <a:off x="6572250" y="4000500"/>
              <a:ext cx="4762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DAFFDE"/>
                  </a:solidFill>
                  <a:latin typeface="Urbanist"/>
                  <a:ea typeface="Urbanist"/>
                  <a:cs typeface="Urbanist"/>
                  <a:sym typeface="Urbanist"/>
                </a:rPr>
                <a:t>Instruções brutas de hardware que manipulam a memória diretamente.</a:t>
              </a:r>
              <a:endParaRPr b="0" sz="22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pic>
        <p:nvPicPr>
          <p:cNvPr id="265" name="Google Shape;26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0" y="3705225"/>
            <a:ext cx="333300" cy="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3667125"/>
            <a:ext cx="95400" cy="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1" name="Google Shape;27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305276" y="581025"/>
            <a:ext cx="1158144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Dúvidas?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2847975" y="2314575"/>
            <a:ext cx="64960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Referências Bibliográficas: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2847975" y="2817465"/>
            <a:ext cx="64960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TANENBAUM, Andrew. Organização Estruturada de Computadores.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2847975" y="3110805"/>
            <a:ext cx="64960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PATTERSON &amp; HENNESSY. Organização e Projeto de Computadores.</a:t>
            </a:r>
            <a:endParaRPr/>
          </a:p>
        </p:txBody>
      </p:sp>
      <p:pic>
        <p:nvPicPr>
          <p:cNvPr descr="image.png" id="276" name="Google Shape;27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47975" y="284127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47975" y="3134617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6"/>
          <p:cNvSpPr/>
          <p:nvPr/>
        </p:nvSpPr>
        <p:spPr>
          <a:xfrm>
            <a:off x="581025" y="3128962"/>
            <a:ext cx="77152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581025" y="3890962"/>
            <a:ext cx="7715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6"/>
          <p:cNvSpPr/>
          <p:nvPr/>
        </p:nvSpPr>
        <p:spPr>
          <a:xfrm>
            <a:off x="581025" y="3890962"/>
            <a:ext cx="7715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6" name="Google Shape;28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2718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6"/>
          <p:cNvSpPr txBox="1"/>
          <p:nvPr/>
        </p:nvSpPr>
        <p:spPr>
          <a:xfrm>
            <a:off x="1676400" y="3292822"/>
            <a:ext cx="66198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https://cdn.hashnode.com/res/hashnode/image/upload/v1764643222554/25cd8979-eee3-48e3-afc3-ee98f9a0042d.png</a:t>
            </a:r>
            <a:endParaRPr/>
          </a:p>
        </p:txBody>
      </p:sp>
      <p:sp>
        <p:nvSpPr>
          <p:cNvPr id="288" name="Google Shape;288;p26"/>
          <p:cNvSpPr txBox="1"/>
          <p:nvPr/>
        </p:nvSpPr>
        <p:spPr>
          <a:xfrm>
            <a:off x="1676400" y="3513683"/>
            <a:ext cx="6619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blog.jyotiprakash.org</a:t>
            </a:r>
            <a:endParaRPr/>
          </a:p>
        </p:txBody>
      </p:sp>
      <p:pic>
        <p:nvPicPr>
          <p:cNvPr descr="image.png" id="289" name="Google Shape;28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0433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6"/>
          <p:cNvSpPr txBox="1"/>
          <p:nvPr/>
        </p:nvSpPr>
        <p:spPr>
          <a:xfrm>
            <a:off x="1676400" y="4064347"/>
            <a:ext cx="66198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https://www.cs.emory.edu/~cheung/Courses/255/Syllabus/4-intro/FIGS/memory01b.gif</a:t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1676400" y="4285208"/>
            <a:ext cx="6619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www.cs.emory.edu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581025" y="581025"/>
            <a:ext cx="4030503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